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650F2-D92E-454B-8BCF-FCFABB36D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Factor</a:t>
            </a:r>
            <a:r>
              <a:rPr lang="de-DE" dirty="0"/>
              <a:t> Analysis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F2DC41-2539-4693-8FD6-DC57163EE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Decisions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made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563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BB538-C533-4AAC-9D21-A15F3882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014D3B-C10B-446F-90C0-CC8BFF9F6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(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fine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coarse</a:t>
            </a:r>
            <a:r>
              <a:rPr lang="de-DE" dirty="0"/>
              <a:t>):</a:t>
            </a:r>
          </a:p>
          <a:p>
            <a:pPr lvl="1"/>
            <a:r>
              <a:rPr lang="de-DE" dirty="0"/>
              <a:t>Individual </a:t>
            </a:r>
            <a:r>
              <a:rPr lang="de-DE" dirty="0" err="1"/>
              <a:t>items</a:t>
            </a:r>
            <a:r>
              <a:rPr lang="de-DE" dirty="0"/>
              <a:t> -&gt; </a:t>
            </a:r>
            <a:r>
              <a:rPr lang="de-DE" dirty="0" err="1"/>
              <a:t>usually</a:t>
            </a:r>
            <a:r>
              <a:rPr lang="de-DE" dirty="0"/>
              <a:t> ordinal</a:t>
            </a:r>
          </a:p>
          <a:p>
            <a:pPr lvl="1"/>
            <a:r>
              <a:rPr lang="de-DE" dirty="0" err="1"/>
              <a:t>Subscales</a:t>
            </a:r>
            <a:r>
              <a:rPr lang="de-DE" dirty="0"/>
              <a:t> -&gt;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continuous</a:t>
            </a:r>
            <a:endParaRPr lang="de-DE" dirty="0"/>
          </a:p>
          <a:p>
            <a:pPr lvl="1"/>
            <a:r>
              <a:rPr lang="de-DE" dirty="0" err="1"/>
              <a:t>Diagnoses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…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Pick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lvl="1"/>
            <a:r>
              <a:rPr lang="de-DE" dirty="0"/>
              <a:t>Pearson (</a:t>
            </a:r>
            <a:r>
              <a:rPr lang="de-DE" dirty="0" err="1"/>
              <a:t>continuous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Polychoric</a:t>
            </a:r>
            <a:r>
              <a:rPr lang="de-DE" dirty="0"/>
              <a:t> (ordinal)</a:t>
            </a:r>
          </a:p>
          <a:p>
            <a:pPr lvl="1"/>
            <a:r>
              <a:rPr lang="de-DE" dirty="0" err="1"/>
              <a:t>Tetrachoric</a:t>
            </a:r>
            <a:r>
              <a:rPr lang="de-DE" dirty="0"/>
              <a:t> (</a:t>
            </a:r>
            <a:r>
              <a:rPr lang="de-DE" dirty="0" err="1"/>
              <a:t>binary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…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972C686-9D91-4358-895B-30107CE1B5B5}"/>
              </a:ext>
            </a:extLst>
          </p:cNvPr>
          <p:cNvSpPr/>
          <p:nvPr/>
        </p:nvSpPr>
        <p:spPr>
          <a:xfrm>
            <a:off x="4377265" y="4982295"/>
            <a:ext cx="2108202" cy="30480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C17A1B1-C9D0-4458-8D41-9D54E1141E54}"/>
              </a:ext>
            </a:extLst>
          </p:cNvPr>
          <p:cNvSpPr/>
          <p:nvPr/>
        </p:nvSpPr>
        <p:spPr>
          <a:xfrm>
            <a:off x="4377265" y="1225075"/>
            <a:ext cx="3437469" cy="30480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F8B6516-10E6-4AB8-9E31-136B361091BF}"/>
              </a:ext>
            </a:extLst>
          </p:cNvPr>
          <p:cNvSpPr txBox="1"/>
          <p:nvPr/>
        </p:nvSpPr>
        <p:spPr>
          <a:xfrm>
            <a:off x="6825214" y="4982295"/>
            <a:ext cx="4968852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Check correlation matrix for large enough sample size:</a:t>
            </a:r>
          </a:p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Psych::KMO(R) # ratio partial to global correlations</a:t>
            </a:r>
          </a:p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Psych::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cortest.bartlett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(R, n = N) # are there correlations</a:t>
            </a:r>
            <a:endParaRPr lang="de-DE" sz="11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2FBEB34-02B6-4C24-8F0F-D85A94305BAB}"/>
              </a:ext>
            </a:extLst>
          </p:cNvPr>
          <p:cNvSpPr txBox="1"/>
          <p:nvPr/>
        </p:nvSpPr>
        <p:spPr>
          <a:xfrm>
            <a:off x="6825214" y="1977878"/>
            <a:ext cx="4968852" cy="127727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Split dataset in training and test set:</a:t>
            </a: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library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rsample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de-DE" sz="11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set.seed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(20251216)</a:t>
            </a: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&lt;-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initial_split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0.75,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strata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project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df_training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&lt;-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training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df_test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&lt;-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testing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D9467C-3ACB-4A73-9A43-0B0BF082618C}"/>
              </a:ext>
            </a:extLst>
          </p:cNvPr>
          <p:cNvSpPr txBox="1"/>
          <p:nvPr/>
        </p:nvSpPr>
        <p:spPr>
          <a:xfrm>
            <a:off x="3428993" y="129627"/>
            <a:ext cx="850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Fox et al. 2025 </a:t>
            </a:r>
            <a:r>
              <a:rPr lang="de-DE" dirty="0" err="1">
                <a:solidFill>
                  <a:schemeClr val="accent4"/>
                </a:solidFill>
              </a:rPr>
              <a:t>Cognitive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arbitration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between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candidate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dimensions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of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psychopathology</a:t>
            </a:r>
            <a:r>
              <a:rPr lang="de-DE" dirty="0">
                <a:solidFill>
                  <a:schemeClr val="accent4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447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F1756-C3AD-49D9-9F73-C47CC5FF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1A5B2D-2810-496F-B6F5-B2681DBAD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factors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extract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Parallel </a:t>
            </a:r>
            <a:r>
              <a:rPr lang="de-DE" dirty="0" err="1"/>
              <a:t>analysis</a:t>
            </a:r>
            <a:endParaRPr lang="de-DE" dirty="0"/>
          </a:p>
          <a:p>
            <a:pPr lvl="1"/>
            <a:r>
              <a:rPr lang="de-DE" dirty="0" err="1"/>
              <a:t>Scree</a:t>
            </a:r>
            <a:r>
              <a:rPr lang="de-DE" dirty="0"/>
              <a:t> </a:t>
            </a:r>
            <a:r>
              <a:rPr lang="de-DE" dirty="0" err="1"/>
              <a:t>plot</a:t>
            </a:r>
            <a:r>
              <a:rPr lang="de-DE" dirty="0"/>
              <a:t> (+ Nelson-</a:t>
            </a:r>
            <a:r>
              <a:rPr lang="de-DE" dirty="0" err="1"/>
              <a:t>Gorsuch</a:t>
            </a:r>
            <a:r>
              <a:rPr lang="de-DE" dirty="0"/>
              <a:t> Index)</a:t>
            </a:r>
          </a:p>
          <a:p>
            <a:pPr lvl="1"/>
            <a:r>
              <a:rPr lang="de-DE" dirty="0"/>
              <a:t>Model fit </a:t>
            </a:r>
            <a:r>
              <a:rPr lang="de-DE" dirty="0" err="1"/>
              <a:t>indices</a:t>
            </a:r>
            <a:r>
              <a:rPr lang="de-DE" dirty="0"/>
              <a:t> (</a:t>
            </a:r>
            <a:r>
              <a:rPr lang="de-DE" dirty="0" err="1"/>
              <a:t>only</a:t>
            </a:r>
            <a:r>
              <a:rPr lang="de-DE" dirty="0"/>
              <a:t> CFA)</a:t>
            </a:r>
          </a:p>
          <a:p>
            <a:pPr lvl="1"/>
            <a:r>
              <a:rPr lang="de-DE" dirty="0"/>
              <a:t>…</a:t>
            </a:r>
          </a:p>
          <a:p>
            <a:endParaRPr lang="de-DE" dirty="0"/>
          </a:p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estimator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(</a:t>
            </a:r>
            <a:r>
              <a:rPr lang="de-DE" dirty="0" err="1"/>
              <a:t>only</a:t>
            </a:r>
            <a:r>
              <a:rPr lang="de-DE" dirty="0"/>
              <a:t> EFA)?</a:t>
            </a:r>
          </a:p>
          <a:p>
            <a:pPr lvl="1"/>
            <a:r>
              <a:rPr lang="de-DE" dirty="0"/>
              <a:t>ML (</a:t>
            </a:r>
            <a:r>
              <a:rPr lang="de-DE" dirty="0" err="1"/>
              <a:t>continuous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WLSMV (ordinal)</a:t>
            </a:r>
          </a:p>
          <a:p>
            <a:pPr lvl="1"/>
            <a:r>
              <a:rPr lang="de-DE" dirty="0"/>
              <a:t>…</a:t>
            </a:r>
          </a:p>
          <a:p>
            <a:r>
              <a:rPr lang="de-DE" dirty="0" err="1"/>
              <a:t>Which</a:t>
            </a:r>
            <a:r>
              <a:rPr lang="de-DE" dirty="0"/>
              <a:t> (oblique) </a:t>
            </a:r>
            <a:r>
              <a:rPr lang="de-DE" dirty="0" err="1"/>
              <a:t>rotation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Geomin</a:t>
            </a:r>
            <a:r>
              <a:rPr lang="de-DE" dirty="0"/>
              <a:t> (</a:t>
            </a:r>
            <a:r>
              <a:rPr lang="de-DE" dirty="0" err="1"/>
              <a:t>small</a:t>
            </a:r>
            <a:r>
              <a:rPr lang="de-DE" dirty="0"/>
              <a:t> but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cross-loadings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Oblimin</a:t>
            </a:r>
            <a:r>
              <a:rPr lang="de-DE" dirty="0"/>
              <a:t> (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cross-loadings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Promax</a:t>
            </a:r>
            <a:r>
              <a:rPr lang="de-DE" dirty="0"/>
              <a:t> (staple)</a:t>
            </a:r>
          </a:p>
          <a:p>
            <a:pPr lvl="1"/>
            <a:r>
              <a:rPr lang="de-DE" dirty="0"/>
              <a:t>Target Rotation (</a:t>
            </a:r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goal</a:t>
            </a:r>
            <a:r>
              <a:rPr lang="de-DE" dirty="0"/>
              <a:t> and still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EFA </a:t>
            </a:r>
            <a:r>
              <a:rPr lang="de-DE" dirty="0" err="1"/>
              <a:t>flexibility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…</a:t>
            </a:r>
          </a:p>
          <a:p>
            <a:pPr lvl="1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D860586-CA30-4A43-B07A-3DA060697EF7}"/>
              </a:ext>
            </a:extLst>
          </p:cNvPr>
          <p:cNvSpPr/>
          <p:nvPr/>
        </p:nvSpPr>
        <p:spPr>
          <a:xfrm>
            <a:off x="4377264" y="4529667"/>
            <a:ext cx="3640666" cy="30480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D33CD97-88DA-418F-A342-052D2617B779}"/>
              </a:ext>
            </a:extLst>
          </p:cNvPr>
          <p:cNvSpPr/>
          <p:nvPr/>
        </p:nvSpPr>
        <p:spPr>
          <a:xfrm>
            <a:off x="4377264" y="2977073"/>
            <a:ext cx="1930402" cy="30480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5C9B705-4B1F-47EA-9031-B005C34B4564}"/>
              </a:ext>
            </a:extLst>
          </p:cNvPr>
          <p:cNvSpPr txBox="1"/>
          <p:nvPr/>
        </p:nvSpPr>
        <p:spPr>
          <a:xfrm>
            <a:off x="6460065" y="3129473"/>
            <a:ext cx="52578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fa(R,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nfactors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k,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fm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"ml", rotate = "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oblimin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", scores = "regression",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n.obs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nrow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(items))</a:t>
            </a:r>
            <a:endParaRPr lang="de-DE" sz="11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45A8452-903E-4003-8995-BD9C675F676C}"/>
              </a:ext>
            </a:extLst>
          </p:cNvPr>
          <p:cNvSpPr/>
          <p:nvPr/>
        </p:nvSpPr>
        <p:spPr>
          <a:xfrm>
            <a:off x="4377264" y="1387445"/>
            <a:ext cx="3708402" cy="30480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2475EAC-D201-4403-9537-9E3352D74B2A}"/>
              </a:ext>
            </a:extLst>
          </p:cNvPr>
          <p:cNvSpPr txBox="1"/>
          <p:nvPr/>
        </p:nvSpPr>
        <p:spPr>
          <a:xfrm>
            <a:off x="3420526" y="234692"/>
            <a:ext cx="850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Fox et al. 2025 </a:t>
            </a:r>
            <a:r>
              <a:rPr lang="de-DE" dirty="0" err="1">
                <a:solidFill>
                  <a:schemeClr val="accent4"/>
                </a:solidFill>
              </a:rPr>
              <a:t>Cognitive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arbitration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between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candidate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dimensions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of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psychopathology</a:t>
            </a:r>
            <a:r>
              <a:rPr lang="de-DE" dirty="0">
                <a:solidFill>
                  <a:schemeClr val="accent4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58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D582D-C672-4571-B061-2099AF8E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3A44C7-7D5E-4B5D-85EE-486E63D1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hierarchy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Latent variable </a:t>
            </a:r>
            <a:r>
              <a:rPr lang="de-DE" dirty="0" err="1"/>
              <a:t>models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Bass-</a:t>
            </a:r>
            <a:r>
              <a:rPr lang="de-DE" dirty="0" err="1"/>
              <a:t>ackwards</a:t>
            </a:r>
            <a:endParaRPr lang="de-DE" dirty="0"/>
          </a:p>
          <a:p>
            <a:endParaRPr lang="de-DE" dirty="0"/>
          </a:p>
          <a:p>
            <a:r>
              <a:rPr lang="de-DE" dirty="0"/>
              <a:t>Optional: Per-person </a:t>
            </a:r>
            <a:r>
              <a:rPr lang="de-DE" dirty="0" err="1"/>
              <a:t>factor</a:t>
            </a:r>
            <a:r>
              <a:rPr lang="de-DE" dirty="0"/>
              <a:t> </a:t>
            </a:r>
            <a:r>
              <a:rPr lang="de-DE" dirty="0" err="1"/>
              <a:t>scores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43BF228-06FF-461E-A46A-D1249D676A5A}"/>
              </a:ext>
            </a:extLst>
          </p:cNvPr>
          <p:cNvSpPr txBox="1"/>
          <p:nvPr/>
        </p:nvSpPr>
        <p:spPr>
          <a:xfrm>
            <a:off x="4258733" y="4738253"/>
            <a:ext cx="7213598" cy="1615827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W &lt;-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fa_fit$weights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# factor score weights (regression method)</a:t>
            </a:r>
          </a:p>
          <a:p>
            <a:endParaRPr lang="en-US" sz="11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IMPORTANT PRACTICAL NOTE:</a:t>
            </a:r>
          </a:p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Because weights come from a correlation matrix (standardized variables),</a:t>
            </a:r>
          </a:p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z-scoring items before applying weights is usually safest.</a:t>
            </a:r>
          </a:p>
          <a:p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items_z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&lt;- scale(items)</a:t>
            </a:r>
          </a:p>
          <a:p>
            <a:endParaRPr lang="en-US" sz="11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scores &lt;-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as.matrix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items_z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%*% </a:t>
            </a:r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as.matrix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(W)   # N x k factor scores</a:t>
            </a:r>
          </a:p>
          <a:p>
            <a:r>
              <a:rPr lang="en-US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colnames</a:t>
            </a:r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(scores) &lt;- paste0("F", 1:k)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1A84942-BB1F-4903-9ACC-E311EC3B4F00}"/>
              </a:ext>
            </a:extLst>
          </p:cNvPr>
          <p:cNvSpPr txBox="1"/>
          <p:nvPr/>
        </p:nvSpPr>
        <p:spPr>
          <a:xfrm>
            <a:off x="3970870" y="1459453"/>
            <a:ext cx="7213598" cy="9233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Cascadia Mono" panose="020B0609020000020004" pitchFamily="49" charset="0"/>
                <a:cs typeface="Cascadia Mono" panose="020B0609020000020004" pitchFamily="49" charset="0"/>
              </a:rPr>
              <a:t>Fox et al. do not recommend a hierarchical solution</a:t>
            </a:r>
          </a:p>
          <a:p>
            <a:r>
              <a:rPr lang="en-US" dirty="0">
                <a:ea typeface="Cascadia Mono" panose="020B0609020000020004" pitchFamily="49" charset="0"/>
                <a:cs typeface="Cascadia Mono" panose="020B0609020000020004" pitchFamily="49" charset="0"/>
              </a:rPr>
              <a:t>Conway et al suggest only CFA, they do not directly recommend an exploratory factor analysis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1BE650-82CB-41E1-8820-9670189638C5}"/>
              </a:ext>
            </a:extLst>
          </p:cNvPr>
          <p:cNvSpPr/>
          <p:nvPr/>
        </p:nvSpPr>
        <p:spPr>
          <a:xfrm>
            <a:off x="3869268" y="4029509"/>
            <a:ext cx="3911598" cy="339412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EB1DC31-9424-4149-9F30-8BE3D2FC6B99}"/>
              </a:ext>
            </a:extLst>
          </p:cNvPr>
          <p:cNvSpPr/>
          <p:nvPr/>
        </p:nvSpPr>
        <p:spPr>
          <a:xfrm>
            <a:off x="4394201" y="3070177"/>
            <a:ext cx="1701799" cy="339412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B7EC121-9960-4F3F-B929-726505C63DAE}"/>
              </a:ext>
            </a:extLst>
          </p:cNvPr>
          <p:cNvSpPr txBox="1"/>
          <p:nvPr/>
        </p:nvSpPr>
        <p:spPr>
          <a:xfrm>
            <a:off x="3428993" y="494776"/>
            <a:ext cx="6272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Conway et al. 2019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HiTOP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can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transform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mental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health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research</a:t>
            </a:r>
            <a:endParaRPr lang="de-DE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81EC5C5-67DE-4258-8412-E021BC0F4954}"/>
              </a:ext>
            </a:extLst>
          </p:cNvPr>
          <p:cNvSpPr txBox="1"/>
          <p:nvPr/>
        </p:nvSpPr>
        <p:spPr>
          <a:xfrm>
            <a:off x="3428993" y="797317"/>
            <a:ext cx="850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Fox et al. 2025 </a:t>
            </a:r>
            <a:r>
              <a:rPr lang="de-DE" dirty="0" err="1">
                <a:solidFill>
                  <a:schemeClr val="accent4"/>
                </a:solidFill>
              </a:rPr>
              <a:t>Cognitive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arbitration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between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candidate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dimensions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of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psychopathology</a:t>
            </a:r>
            <a:r>
              <a:rPr lang="de-DE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EFACDFE-D62B-496C-A0B8-CFE42B66587F}"/>
              </a:ext>
            </a:extLst>
          </p:cNvPr>
          <p:cNvSpPr txBox="1"/>
          <p:nvPr/>
        </p:nvSpPr>
        <p:spPr>
          <a:xfrm>
            <a:off x="3428993" y="192235"/>
            <a:ext cx="6175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Conway et al. 2022 </a:t>
            </a:r>
            <a:r>
              <a:rPr lang="de-DE" dirty="0" err="1">
                <a:solidFill>
                  <a:schemeClr val="accent1">
                    <a:lumMod val="75000"/>
                  </a:schemeClr>
                </a:solidFill>
              </a:rPr>
              <a:t>HiTOP</a:t>
            </a:r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 primer </a:t>
            </a:r>
            <a:r>
              <a:rPr lang="de-DE" dirty="0" err="1">
                <a:solidFill>
                  <a:schemeClr val="accent1">
                    <a:lumMod val="75000"/>
                  </a:schemeClr>
                </a:solidFill>
              </a:rPr>
              <a:t>for</a:t>
            </a:r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 mental </a:t>
            </a:r>
            <a:r>
              <a:rPr lang="de-DE" dirty="0" err="1">
                <a:solidFill>
                  <a:schemeClr val="accent1">
                    <a:lumMod val="75000"/>
                  </a:schemeClr>
                </a:solidFill>
              </a:rPr>
              <a:t>health</a:t>
            </a:r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1">
                    <a:lumMod val="75000"/>
                  </a:schemeClr>
                </a:solidFill>
              </a:rPr>
              <a:t>researchers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B13711-3109-4C96-8168-C40867433ACB}"/>
              </a:ext>
            </a:extLst>
          </p:cNvPr>
          <p:cNvSpPr/>
          <p:nvPr/>
        </p:nvSpPr>
        <p:spPr>
          <a:xfrm>
            <a:off x="4394201" y="2778650"/>
            <a:ext cx="2539999" cy="339412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722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D582D-C672-4571-B061-2099AF8E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3A44C7-7D5E-4B5D-85EE-486E63D1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Examine</a:t>
            </a:r>
            <a:r>
              <a:rPr lang="de-DE" dirty="0"/>
              <a:t> </a:t>
            </a:r>
            <a:r>
              <a:rPr lang="de-DE" dirty="0" err="1"/>
              <a:t>reliability</a:t>
            </a:r>
            <a:r>
              <a:rPr lang="de-DE" dirty="0"/>
              <a:t> (</a:t>
            </a:r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factor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253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4AC39-9675-41C7-8D92-875E7877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HiTOP</a:t>
            </a:r>
            <a:r>
              <a:rPr lang="de-DE" dirty="0"/>
              <a:t> CFA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37DBFE-939B-4F89-A300-0A21D1B8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indicators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HiTOP</a:t>
            </a:r>
            <a:endParaRPr lang="de-DE" dirty="0"/>
          </a:p>
          <a:p>
            <a:endParaRPr lang="de-DE" dirty="0"/>
          </a:p>
          <a:p>
            <a:r>
              <a:rPr lang="de-DE" dirty="0"/>
              <a:t>Latent variable </a:t>
            </a:r>
            <a:r>
              <a:rPr lang="de-DE" dirty="0" err="1"/>
              <a:t>modeling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Factor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SEM</a:t>
            </a:r>
          </a:p>
          <a:p>
            <a:pPr lvl="1"/>
            <a:endParaRPr lang="de-DE" dirty="0"/>
          </a:p>
          <a:p>
            <a:r>
              <a:rPr lang="de-DE" dirty="0"/>
              <a:t>Fit CFA and </a:t>
            </a:r>
            <a:r>
              <a:rPr lang="de-DE" dirty="0" err="1"/>
              <a:t>evaluate</a:t>
            </a:r>
            <a:r>
              <a:rPr lang="de-DE" dirty="0"/>
              <a:t> fit</a:t>
            </a:r>
          </a:p>
          <a:p>
            <a:pPr lvl="1"/>
            <a:r>
              <a:rPr lang="de-DE" dirty="0"/>
              <a:t>Chi²</a:t>
            </a:r>
          </a:p>
          <a:p>
            <a:pPr lvl="1"/>
            <a:r>
              <a:rPr lang="de-DE" dirty="0"/>
              <a:t>CFI </a:t>
            </a:r>
          </a:p>
          <a:p>
            <a:pPr lvl="1"/>
            <a:r>
              <a:rPr lang="de-DE" dirty="0"/>
              <a:t>RMSEA </a:t>
            </a:r>
          </a:p>
          <a:p>
            <a:pPr lvl="1"/>
            <a:r>
              <a:rPr lang="de-DE" dirty="0"/>
              <a:t>SRMR</a:t>
            </a:r>
          </a:p>
          <a:p>
            <a:pPr lvl="1"/>
            <a:endParaRPr lang="de-DE" dirty="0"/>
          </a:p>
          <a:p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identified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32643EA-BE68-490F-8AB8-761FC9E815F8}"/>
              </a:ext>
            </a:extLst>
          </p:cNvPr>
          <p:cNvSpPr txBox="1"/>
          <p:nvPr/>
        </p:nvSpPr>
        <p:spPr>
          <a:xfrm>
            <a:off x="6884483" y="1123837"/>
            <a:ext cx="4968852" cy="127727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Split dataset in training and test set:</a:t>
            </a: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library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rsample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de-DE" sz="11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set.seed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(20251216)</a:t>
            </a: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&lt;-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initial_split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0.75,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strata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project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df_training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&lt;-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training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df_test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&lt;- 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testing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1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sp</a:t>
            </a:r>
            <a:r>
              <a:rPr lang="de-DE" sz="11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481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4AC39-9675-41C7-8D92-875E7877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HiTOP</a:t>
            </a:r>
            <a:r>
              <a:rPr lang="de-DE" dirty="0"/>
              <a:t> CFA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37DBFE-939B-4F89-A300-0A21D1B8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represent</a:t>
            </a:r>
            <a:r>
              <a:rPr lang="de-DE" dirty="0"/>
              <a:t> top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hierarchy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Bifactor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lvl="1"/>
            <a:r>
              <a:rPr lang="de-DE" dirty="0"/>
              <a:t>Higher-order </a:t>
            </a:r>
            <a:r>
              <a:rPr lang="de-DE" dirty="0" err="1"/>
              <a:t>model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Check </a:t>
            </a:r>
            <a:r>
              <a:rPr lang="de-DE" dirty="0" err="1"/>
              <a:t>reliability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6819360"/>
      </p:ext>
    </p:extLst>
  </p:cSld>
  <p:clrMapOvr>
    <a:masterClrMapping/>
  </p:clrMapOvr>
</p:sld>
</file>

<file path=ppt/theme/theme1.xml><?xml version="1.0" encoding="utf-8"?>
<a:theme xmlns:a="http://schemas.openxmlformats.org/drawingml/2006/main" name="Rahmen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{BAD50D32-A5F7-48FF-B78C-789AB3804CB1}TF5b254a55-10e1-4643-bbf8-937ce7de93d8979c30ab-c74550c300c2</Template>
  <TotalTime>0</TotalTime>
  <Words>532</Words>
  <Application>Microsoft Office PowerPoint</Application>
  <PresentationFormat>Breitbild</PresentationFormat>
  <Paragraphs>94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Cascadia Mono</vt:lpstr>
      <vt:lpstr>Corbel</vt:lpstr>
      <vt:lpstr>Wingdings 2</vt:lpstr>
      <vt:lpstr>Rahmen</vt:lpstr>
      <vt:lpstr>Factor Analysis</vt:lpstr>
      <vt:lpstr>EFA</vt:lpstr>
      <vt:lpstr>EFA</vt:lpstr>
      <vt:lpstr>EFA</vt:lpstr>
      <vt:lpstr>EFA</vt:lpstr>
      <vt:lpstr>HiTOP CFA</vt:lpstr>
      <vt:lpstr>HiTOP CFA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 Analysis</dc:title>
  <dc:creator>Wilken, Saskia Angelika</dc:creator>
  <cp:lastModifiedBy>Wilken, Saskia Angelika</cp:lastModifiedBy>
  <cp:revision>15</cp:revision>
  <dcterms:created xsi:type="dcterms:W3CDTF">2025-12-16T10:48:51Z</dcterms:created>
  <dcterms:modified xsi:type="dcterms:W3CDTF">2025-12-16T17:27:07Z</dcterms:modified>
</cp:coreProperties>
</file>