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9"/>
  </p:notesMasterIdLst>
  <p:sldIdLst>
    <p:sldId id="256" r:id="rId2"/>
    <p:sldId id="264" r:id="rId3"/>
    <p:sldId id="265" r:id="rId4"/>
    <p:sldId id="266" r:id="rId5"/>
    <p:sldId id="267" r:id="rId6"/>
    <p:sldId id="270" r:id="rId7"/>
    <p:sldId id="257" r:id="rId8"/>
    <p:sldId id="268" r:id="rId9"/>
    <p:sldId id="269" r:id="rId10"/>
    <p:sldId id="262" r:id="rId11"/>
    <p:sldId id="260" r:id="rId12"/>
    <p:sldId id="271" r:id="rId13"/>
    <p:sldId id="272" r:id="rId14"/>
    <p:sldId id="273" r:id="rId15"/>
    <p:sldId id="274" r:id="rId16"/>
    <p:sldId id="261" r:id="rId17"/>
    <p:sldId id="26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2082" y="8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21C7D0-1584-4F6E-9145-33173FBCFD55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E2F865-E423-427F-8C3C-686AEE1333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4756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E2F865-E423-427F-8C3C-686AEE13337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5171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A650F2-D92E-454B-8BCF-FCFABB36D8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Factor</a:t>
            </a:r>
            <a:r>
              <a:rPr lang="de-DE" dirty="0"/>
              <a:t> Analysis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5F2DC41-2539-4693-8FD6-DC57163EEA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Decisions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made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5636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DDC287-418B-49DA-9745-49666E535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Factor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: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idea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66F6A0-D048-4AE8-BEF6-E90C63D42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Factor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method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calculate</a:t>
            </a:r>
            <a:r>
              <a:rPr lang="de-DE" dirty="0"/>
              <a:t> a </a:t>
            </a:r>
            <a:r>
              <a:rPr lang="de-DE" dirty="0" err="1"/>
              <a:t>smaller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factors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a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observed</a:t>
            </a:r>
            <a:r>
              <a:rPr lang="de-DE" dirty="0"/>
              <a:t> variables</a:t>
            </a:r>
          </a:p>
          <a:p>
            <a:r>
              <a:rPr lang="de-DE" dirty="0"/>
              <a:t>This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capture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, </a:t>
            </a:r>
            <a:r>
              <a:rPr lang="de-DE" u="sng" dirty="0"/>
              <a:t>latent </a:t>
            </a:r>
            <a:r>
              <a:rPr lang="de-DE" u="sng" dirty="0" err="1"/>
              <a:t>traits</a:t>
            </a:r>
            <a:r>
              <a:rPr lang="de-DE" dirty="0"/>
              <a:t>,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not evident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simply</a:t>
            </a:r>
            <a:r>
              <a:rPr lang="de-DE" dirty="0"/>
              <a:t> </a:t>
            </a:r>
            <a:r>
              <a:rPr lang="de-DE" dirty="0" err="1"/>
              <a:t>looking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test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85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471368-AC41-4C39-8682-3C3AA8571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Exploratory</a:t>
            </a:r>
            <a:r>
              <a:rPr lang="de-DE" dirty="0"/>
              <a:t> </a:t>
            </a:r>
            <a:r>
              <a:rPr lang="de-DE" dirty="0" err="1"/>
              <a:t>Factor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CEE012-83FA-4152-89EE-5C62EF2CA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correlations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items</a:t>
            </a:r>
            <a:r>
              <a:rPr lang="de-DE" dirty="0"/>
              <a:t> – not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ones</a:t>
            </a:r>
            <a:r>
              <a:rPr lang="de-DE" dirty="0"/>
              <a:t>!</a:t>
            </a:r>
          </a:p>
          <a:p>
            <a:r>
              <a:rPr lang="de-DE" dirty="0"/>
              <a:t>This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assumed</a:t>
            </a:r>
            <a:r>
              <a:rPr lang="de-DE" dirty="0"/>
              <a:t> </a:t>
            </a:r>
            <a:r>
              <a:rPr lang="de-DE" dirty="0" err="1"/>
              <a:t>underlying</a:t>
            </a:r>
            <a:r>
              <a:rPr lang="de-DE" dirty="0"/>
              <a:t> </a:t>
            </a:r>
            <a:r>
              <a:rPr lang="de-DE" dirty="0" err="1"/>
              <a:t>concepts</a:t>
            </a:r>
            <a:r>
              <a:rPr lang="de-DE" dirty="0"/>
              <a:t> </a:t>
            </a:r>
            <a:r>
              <a:rPr lang="de-DE" dirty="0" err="1"/>
              <a:t>being</a:t>
            </a:r>
            <a:r>
              <a:rPr lang="de-DE" dirty="0"/>
              <a:t> </a:t>
            </a:r>
            <a:r>
              <a:rPr lang="de-DE" dirty="0" err="1"/>
              <a:t>dropped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, </a:t>
            </a:r>
            <a:r>
              <a:rPr lang="de-DE" dirty="0" err="1"/>
              <a:t>unexpected</a:t>
            </a:r>
            <a:r>
              <a:rPr lang="de-DE" dirty="0"/>
              <a:t> </a:t>
            </a:r>
            <a:r>
              <a:rPr lang="de-DE" dirty="0" err="1"/>
              <a:t>ones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emerge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9383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A094C-32C1-4E2A-A784-A754AB5F9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needed</a:t>
            </a:r>
            <a:r>
              <a:rPr lang="de-DE" dirty="0"/>
              <a:t>?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06965C-A939-43FA-B44F-1F3F1A29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Rule </a:t>
            </a:r>
            <a:r>
              <a:rPr lang="de-DE" dirty="0" err="1"/>
              <a:t>of</a:t>
            </a:r>
            <a:r>
              <a:rPr lang="de-DE" dirty="0"/>
              <a:t> 10: 10 </a:t>
            </a:r>
            <a:r>
              <a:rPr lang="de-DE" dirty="0" err="1"/>
              <a:t>cases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item</a:t>
            </a:r>
          </a:p>
        </p:txBody>
      </p:sp>
    </p:spTree>
    <p:extLst>
      <p:ext uri="{BB962C8B-B14F-4D97-AF65-F5344CB8AC3E}">
        <p14:creationId xmlns:p14="http://schemas.microsoft.com/office/powerpoint/2010/main" val="2445507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FBC791-001C-48D5-AC63-59059B891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Decisions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made</a:t>
            </a:r>
            <a:r>
              <a:rPr lang="de-DE" dirty="0"/>
              <a:t>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B62A5E5-BB89-4DD7-BAC7-7551DB2A7C82}"/>
              </a:ext>
            </a:extLst>
          </p:cNvPr>
          <p:cNvSpPr/>
          <p:nvPr/>
        </p:nvSpPr>
        <p:spPr>
          <a:xfrm>
            <a:off x="6096000" y="508000"/>
            <a:ext cx="1896533" cy="86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Level </a:t>
            </a:r>
            <a:r>
              <a:rPr lang="de-DE" dirty="0" err="1"/>
              <a:t>of</a:t>
            </a:r>
            <a:r>
              <a:rPr lang="de-DE" dirty="0"/>
              <a:t> Analysis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8A3B05-CF26-422A-B470-6885015B3383}"/>
              </a:ext>
            </a:extLst>
          </p:cNvPr>
          <p:cNvSpPr/>
          <p:nvPr/>
        </p:nvSpPr>
        <p:spPr>
          <a:xfrm>
            <a:off x="6096000" y="1515533"/>
            <a:ext cx="1896533" cy="86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Correlation</a:t>
            </a:r>
            <a:r>
              <a:rPr lang="de-DE" dirty="0"/>
              <a:t> Matrix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4EFCE63-5161-4692-9545-3EC9479B3FDA}"/>
              </a:ext>
            </a:extLst>
          </p:cNvPr>
          <p:cNvSpPr/>
          <p:nvPr/>
        </p:nvSpPr>
        <p:spPr>
          <a:xfrm>
            <a:off x="6096000" y="2523066"/>
            <a:ext cx="1896533" cy="86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factors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extract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CF5BEBE-4DAF-4B63-8EE1-EA2B0D8CD69A}"/>
              </a:ext>
            </a:extLst>
          </p:cNvPr>
          <p:cNvSpPr/>
          <p:nvPr/>
        </p:nvSpPr>
        <p:spPr>
          <a:xfrm>
            <a:off x="6095999" y="3581401"/>
            <a:ext cx="1896533" cy="86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Estimator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76E7312-D016-402B-AFB8-2A38FADB5A66}"/>
              </a:ext>
            </a:extLst>
          </p:cNvPr>
          <p:cNvSpPr/>
          <p:nvPr/>
        </p:nvSpPr>
        <p:spPr>
          <a:xfrm>
            <a:off x="6095999" y="4639736"/>
            <a:ext cx="1896533" cy="86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Rotation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080AD3D-275B-4826-B8A9-568ED6342378}"/>
              </a:ext>
            </a:extLst>
          </p:cNvPr>
          <p:cNvSpPr/>
          <p:nvPr/>
        </p:nvSpPr>
        <p:spPr>
          <a:xfrm>
            <a:off x="6095998" y="5672670"/>
            <a:ext cx="1896533" cy="86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Examine</a:t>
            </a:r>
            <a:r>
              <a:rPr lang="de-DE" dirty="0"/>
              <a:t> </a:t>
            </a:r>
            <a:r>
              <a:rPr lang="de-DE" dirty="0" err="1"/>
              <a:t>Reliability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6684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CBB538-C533-4AAC-9D21-A15F38829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Level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014D3B-C10B-446F-90C0-CC8BFF9F6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level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(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fine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coarse</a:t>
            </a:r>
            <a:r>
              <a:rPr lang="de-DE" dirty="0"/>
              <a:t>):</a:t>
            </a:r>
          </a:p>
          <a:p>
            <a:pPr lvl="1"/>
            <a:r>
              <a:rPr lang="de-DE" dirty="0"/>
              <a:t>Individual </a:t>
            </a:r>
            <a:r>
              <a:rPr lang="de-DE" dirty="0" err="1"/>
              <a:t>items</a:t>
            </a:r>
            <a:r>
              <a:rPr lang="de-DE" dirty="0"/>
              <a:t> -&gt; </a:t>
            </a:r>
            <a:r>
              <a:rPr lang="de-DE" dirty="0" err="1"/>
              <a:t>usually</a:t>
            </a:r>
            <a:r>
              <a:rPr lang="de-DE" dirty="0"/>
              <a:t> ordinal</a:t>
            </a:r>
          </a:p>
          <a:p>
            <a:pPr lvl="1"/>
            <a:r>
              <a:rPr lang="de-DE" dirty="0" err="1"/>
              <a:t>Subscales</a:t>
            </a:r>
            <a:r>
              <a:rPr lang="de-DE" dirty="0"/>
              <a:t> -&gt; </a:t>
            </a:r>
            <a:r>
              <a:rPr lang="de-DE" dirty="0" err="1"/>
              <a:t>might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almost</a:t>
            </a:r>
            <a:r>
              <a:rPr lang="de-DE" dirty="0"/>
              <a:t> </a:t>
            </a:r>
            <a:r>
              <a:rPr lang="de-DE" dirty="0" err="1"/>
              <a:t>continuous</a:t>
            </a:r>
            <a:endParaRPr lang="de-DE" dirty="0"/>
          </a:p>
          <a:p>
            <a:pPr lvl="2"/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-&gt;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pPr lvl="1"/>
            <a:r>
              <a:rPr lang="de-DE" dirty="0" err="1"/>
              <a:t>Diagnoses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…</a:t>
            </a:r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</a:t>
            </a:r>
            <a:r>
              <a:rPr lang="de-DE" dirty="0" err="1"/>
              <a:t>reliability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C17A1B1-C9D0-4458-8D41-9D54E1141E54}"/>
              </a:ext>
            </a:extLst>
          </p:cNvPr>
          <p:cNvSpPr/>
          <p:nvPr/>
        </p:nvSpPr>
        <p:spPr>
          <a:xfrm>
            <a:off x="4491950" y="2267660"/>
            <a:ext cx="4162523" cy="304800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2FBEB34-02B6-4C24-8F0F-D85A94305BAB}"/>
              </a:ext>
            </a:extLst>
          </p:cNvPr>
          <p:cNvSpPr txBox="1"/>
          <p:nvPr/>
        </p:nvSpPr>
        <p:spPr>
          <a:xfrm>
            <a:off x="4377265" y="3976011"/>
            <a:ext cx="4968852" cy="127727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# Split dataset in training and test set:</a:t>
            </a:r>
          </a:p>
          <a:p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library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rsample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e-DE" sz="11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set.seed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(20251216)</a:t>
            </a:r>
          </a:p>
          <a:p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sp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&lt;-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initial_split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df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prop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= 0.75,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strata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project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df_training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&lt;-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training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sp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df_test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  &lt;-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testing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sp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8D9467C-3ACB-4A73-9A43-0B0BF082618C}"/>
              </a:ext>
            </a:extLst>
          </p:cNvPr>
          <p:cNvSpPr txBox="1"/>
          <p:nvPr/>
        </p:nvSpPr>
        <p:spPr>
          <a:xfrm>
            <a:off x="3428993" y="129627"/>
            <a:ext cx="8501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4"/>
                </a:solidFill>
              </a:rPr>
              <a:t>Fox et al. 2025 </a:t>
            </a:r>
            <a:r>
              <a:rPr lang="de-DE" dirty="0" err="1">
                <a:solidFill>
                  <a:schemeClr val="accent4"/>
                </a:solidFill>
              </a:rPr>
              <a:t>Cognitive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arbitration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between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candidate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dimensions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of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psychopathology</a:t>
            </a:r>
            <a:r>
              <a:rPr lang="de-DE" dirty="0">
                <a:solidFill>
                  <a:schemeClr val="accent4"/>
                </a:solidFill>
              </a:rPr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6EFEEFF-130A-4DF4-B894-8D6FF0818F14}"/>
              </a:ext>
            </a:extLst>
          </p:cNvPr>
          <p:cNvSpPr txBox="1"/>
          <p:nvPr/>
        </p:nvSpPr>
        <p:spPr>
          <a:xfrm>
            <a:off x="5692588" y="5585012"/>
            <a:ext cx="4134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Ideally</a:t>
            </a:r>
            <a:r>
              <a:rPr lang="de-DE" dirty="0"/>
              <a:t>: </a:t>
            </a:r>
            <a:r>
              <a:rPr lang="de-DE" dirty="0" err="1"/>
              <a:t>stratify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e.g. </a:t>
            </a:r>
            <a:r>
              <a:rPr lang="de-DE" dirty="0" err="1"/>
              <a:t>age</a:t>
            </a:r>
            <a:r>
              <a:rPr lang="de-DE" dirty="0"/>
              <a:t>, </a:t>
            </a:r>
            <a:r>
              <a:rPr lang="de-DE" dirty="0" err="1"/>
              <a:t>diagnosis</a:t>
            </a:r>
            <a:r>
              <a:rPr lang="de-DE" dirty="0"/>
              <a:t>, </a:t>
            </a:r>
            <a:r>
              <a:rPr lang="de-DE" dirty="0" err="1"/>
              <a:t>site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659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CBB538-C533-4AAC-9D21-A15F38829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Appropriate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Matrix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014D3B-C10B-446F-90C0-CC8BFF9F6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de-DE" dirty="0"/>
          </a:p>
          <a:p>
            <a:endParaRPr lang="de-DE" dirty="0"/>
          </a:p>
          <a:p>
            <a:r>
              <a:rPr lang="de-DE" dirty="0"/>
              <a:t>Pick </a:t>
            </a:r>
            <a:r>
              <a:rPr lang="de-DE" dirty="0" err="1"/>
              <a:t>appropriate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pPr lvl="1"/>
            <a:r>
              <a:rPr lang="de-DE" dirty="0"/>
              <a:t>Pearson (</a:t>
            </a:r>
            <a:r>
              <a:rPr lang="de-DE" dirty="0" err="1"/>
              <a:t>continuous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Polychoric</a:t>
            </a:r>
            <a:r>
              <a:rPr lang="de-DE" dirty="0"/>
              <a:t> (ordinal)</a:t>
            </a:r>
          </a:p>
          <a:p>
            <a:pPr lvl="1"/>
            <a:r>
              <a:rPr lang="de-DE" dirty="0" err="1"/>
              <a:t>Tetrachoric</a:t>
            </a:r>
            <a:r>
              <a:rPr lang="de-DE" dirty="0"/>
              <a:t> (</a:t>
            </a:r>
            <a:r>
              <a:rPr lang="de-DE" dirty="0" err="1"/>
              <a:t>binary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…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972C686-9D91-4358-895B-30107CE1B5B5}"/>
              </a:ext>
            </a:extLst>
          </p:cNvPr>
          <p:cNvSpPr/>
          <p:nvPr/>
        </p:nvSpPr>
        <p:spPr>
          <a:xfrm>
            <a:off x="4478865" y="3695362"/>
            <a:ext cx="2108202" cy="304800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F8B6516-10E6-4AB8-9E31-136B361091BF}"/>
              </a:ext>
            </a:extLst>
          </p:cNvPr>
          <p:cNvSpPr txBox="1"/>
          <p:nvPr/>
        </p:nvSpPr>
        <p:spPr>
          <a:xfrm>
            <a:off x="4478865" y="4669029"/>
            <a:ext cx="4968852" cy="76944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# Check correlation matrix for large enough sample size:</a:t>
            </a:r>
          </a:p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Psych::KMO(R) # ratio partial to global correlations</a:t>
            </a:r>
          </a:p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Psych::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cortest.bartlett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(R, n = N) # are there correlations</a:t>
            </a:r>
            <a:endParaRPr lang="de-DE" sz="11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8D9467C-3ACB-4A73-9A43-0B0BF082618C}"/>
              </a:ext>
            </a:extLst>
          </p:cNvPr>
          <p:cNvSpPr txBox="1"/>
          <p:nvPr/>
        </p:nvSpPr>
        <p:spPr>
          <a:xfrm>
            <a:off x="3428993" y="129627"/>
            <a:ext cx="8501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4"/>
                </a:solidFill>
              </a:rPr>
              <a:t>Fox et al. 2025 </a:t>
            </a:r>
            <a:r>
              <a:rPr lang="de-DE" dirty="0" err="1">
                <a:solidFill>
                  <a:schemeClr val="accent4"/>
                </a:solidFill>
              </a:rPr>
              <a:t>Cognitive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arbitration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between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candidate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dimensions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of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psychopathology</a:t>
            </a:r>
            <a:r>
              <a:rPr lang="de-DE" dirty="0">
                <a:solidFill>
                  <a:schemeClr val="accent4"/>
                </a:solidFill>
              </a:rPr>
              <a:t>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D621B20-F2AD-45C0-A4CD-B89502F80CAC}"/>
              </a:ext>
            </a:extLst>
          </p:cNvPr>
          <p:cNvSpPr/>
          <p:nvPr/>
        </p:nvSpPr>
        <p:spPr>
          <a:xfrm>
            <a:off x="4478865" y="3360388"/>
            <a:ext cx="2309862" cy="30480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01F752F-9DE1-46DD-8FE0-35B7A2D923EB}"/>
              </a:ext>
            </a:extLst>
          </p:cNvPr>
          <p:cNvSpPr txBox="1"/>
          <p:nvPr/>
        </p:nvSpPr>
        <p:spPr>
          <a:xfrm>
            <a:off x="5800436" y="5296102"/>
            <a:ext cx="5171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Tests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nonzero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 – </a:t>
            </a:r>
            <a:r>
              <a:rPr lang="de-DE" dirty="0" err="1"/>
              <a:t>almost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significant</a:t>
            </a:r>
            <a:r>
              <a:rPr lang="de-DE" dirty="0"/>
              <a:t> in large </a:t>
            </a:r>
            <a:r>
              <a:rPr lang="de-DE" dirty="0" err="1"/>
              <a:t>samples</a:t>
            </a:r>
            <a:r>
              <a:rPr lang="de-DE" dirty="0"/>
              <a:t>. 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E7B43F5-ED21-403D-A16A-C2D895E29504}"/>
              </a:ext>
            </a:extLst>
          </p:cNvPr>
          <p:cNvSpPr txBox="1"/>
          <p:nvPr/>
        </p:nvSpPr>
        <p:spPr>
          <a:xfrm>
            <a:off x="4377493" y="6007284"/>
            <a:ext cx="51715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Better</a:t>
            </a:r>
            <a:r>
              <a:rPr lang="de-DE" dirty="0"/>
              <a:t>: KMO </a:t>
            </a:r>
            <a:r>
              <a:rPr lang="de-DE" dirty="0" err="1"/>
              <a:t>criterion</a:t>
            </a:r>
            <a:r>
              <a:rPr lang="de-DE" dirty="0"/>
              <a:t> – </a:t>
            </a:r>
            <a:r>
              <a:rPr lang="de-DE" dirty="0" err="1"/>
              <a:t>tests</a:t>
            </a:r>
            <a:r>
              <a:rPr lang="de-DE" dirty="0"/>
              <a:t> </a:t>
            </a:r>
            <a:r>
              <a:rPr lang="de-DE" dirty="0" err="1"/>
              <a:t>adequacy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sample, </a:t>
            </a:r>
            <a:r>
              <a:rPr lang="de-DE" dirty="0" err="1"/>
              <a:t>if</a:t>
            </a:r>
            <a:r>
              <a:rPr lang="de-DE" dirty="0"/>
              <a:t> variables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pattern</a:t>
            </a:r>
            <a:r>
              <a:rPr lang="de-DE" dirty="0"/>
              <a:t>. Values </a:t>
            </a:r>
            <a:r>
              <a:rPr lang="de-DE" dirty="0" err="1"/>
              <a:t>above</a:t>
            </a:r>
            <a:r>
              <a:rPr lang="de-DE" dirty="0"/>
              <a:t> 0.6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,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0 </a:t>
            </a:r>
            <a:r>
              <a:rPr lang="de-DE" dirty="0" err="1"/>
              <a:t>to</a:t>
            </a:r>
            <a:r>
              <a:rPr lang="de-DE" dirty="0"/>
              <a:t> 1</a:t>
            </a:r>
          </a:p>
        </p:txBody>
      </p:sp>
    </p:spTree>
    <p:extLst>
      <p:ext uri="{BB962C8B-B14F-4D97-AF65-F5344CB8AC3E}">
        <p14:creationId xmlns:p14="http://schemas.microsoft.com/office/powerpoint/2010/main" val="524473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DF1756-C3AD-49D9-9F73-C47CC5FF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Factors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Extract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1A5B2D-2810-496F-B6F5-B2681DBAD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factors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extract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Parallel </a:t>
            </a:r>
            <a:r>
              <a:rPr lang="de-DE" dirty="0" err="1"/>
              <a:t>analysis</a:t>
            </a:r>
            <a:endParaRPr lang="de-DE" dirty="0"/>
          </a:p>
          <a:p>
            <a:pPr lvl="2"/>
            <a:r>
              <a:rPr lang="de-DE" dirty="0"/>
              <a:t>Can </a:t>
            </a:r>
            <a:r>
              <a:rPr lang="de-DE" dirty="0" err="1"/>
              <a:t>tend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overestimate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factors</a:t>
            </a:r>
            <a:endParaRPr lang="de-DE" dirty="0"/>
          </a:p>
          <a:p>
            <a:pPr lvl="1"/>
            <a:r>
              <a:rPr lang="de-DE" dirty="0" err="1"/>
              <a:t>Scree</a:t>
            </a:r>
            <a:r>
              <a:rPr lang="de-DE" dirty="0"/>
              <a:t> </a:t>
            </a:r>
            <a:r>
              <a:rPr lang="de-DE" dirty="0" err="1"/>
              <a:t>plot</a:t>
            </a:r>
            <a:r>
              <a:rPr lang="de-DE" dirty="0"/>
              <a:t> (+ Nelson-</a:t>
            </a:r>
            <a:r>
              <a:rPr lang="de-DE" dirty="0" err="1"/>
              <a:t>Gorsuch</a:t>
            </a:r>
            <a:r>
              <a:rPr lang="de-DE" dirty="0"/>
              <a:t> Index)</a:t>
            </a:r>
          </a:p>
          <a:p>
            <a:pPr lvl="1"/>
            <a:r>
              <a:rPr lang="de-DE" dirty="0"/>
              <a:t>Model fit </a:t>
            </a:r>
            <a:r>
              <a:rPr lang="de-DE" dirty="0" err="1"/>
              <a:t>indices</a:t>
            </a:r>
            <a:r>
              <a:rPr lang="de-DE" dirty="0"/>
              <a:t> (</a:t>
            </a:r>
            <a:r>
              <a:rPr lang="de-DE" dirty="0" err="1"/>
              <a:t>only</a:t>
            </a:r>
            <a:r>
              <a:rPr lang="de-DE" dirty="0"/>
              <a:t> CFA)</a:t>
            </a:r>
          </a:p>
          <a:p>
            <a:pPr lvl="1"/>
            <a:r>
              <a:rPr lang="de-DE" dirty="0"/>
              <a:t>…</a:t>
            </a:r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45A8452-903E-4003-8995-BD9C675F676C}"/>
              </a:ext>
            </a:extLst>
          </p:cNvPr>
          <p:cNvSpPr/>
          <p:nvPr/>
        </p:nvSpPr>
        <p:spPr>
          <a:xfrm>
            <a:off x="4425752" y="3025359"/>
            <a:ext cx="3637591" cy="304800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2475EAC-D201-4403-9537-9E3352D74B2A}"/>
              </a:ext>
            </a:extLst>
          </p:cNvPr>
          <p:cNvSpPr txBox="1"/>
          <p:nvPr/>
        </p:nvSpPr>
        <p:spPr>
          <a:xfrm>
            <a:off x="3420526" y="234692"/>
            <a:ext cx="8501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4"/>
                </a:solidFill>
              </a:rPr>
              <a:t>Fox et al. 2025 </a:t>
            </a:r>
            <a:r>
              <a:rPr lang="de-DE" dirty="0" err="1">
                <a:solidFill>
                  <a:schemeClr val="accent4"/>
                </a:solidFill>
              </a:rPr>
              <a:t>Cognitive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arbitration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between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candidate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dimensions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of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psychopathology</a:t>
            </a:r>
            <a:r>
              <a:rPr lang="de-DE" dirty="0">
                <a:solidFill>
                  <a:schemeClr val="accent4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2959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DF1756-C3AD-49D9-9F73-C47CC5FF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Estimator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1A5B2D-2810-496F-B6F5-B2681DBAD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de-DE" dirty="0"/>
          </a:p>
          <a:p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estimator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(</a:t>
            </a:r>
            <a:r>
              <a:rPr lang="de-DE" dirty="0" err="1"/>
              <a:t>only</a:t>
            </a:r>
            <a:r>
              <a:rPr lang="de-DE" dirty="0"/>
              <a:t> EFA)?</a:t>
            </a:r>
          </a:p>
          <a:p>
            <a:pPr lvl="1"/>
            <a:r>
              <a:rPr lang="de-DE" dirty="0"/>
              <a:t>ML (</a:t>
            </a:r>
            <a:r>
              <a:rPr lang="de-DE" dirty="0" err="1"/>
              <a:t>continuous</a:t>
            </a:r>
            <a:r>
              <a:rPr lang="de-DE" dirty="0"/>
              <a:t>)</a:t>
            </a:r>
          </a:p>
          <a:p>
            <a:pPr lvl="2"/>
            <a:r>
              <a:rPr lang="de-DE" dirty="0" err="1"/>
              <a:t>Assumes</a:t>
            </a:r>
            <a:r>
              <a:rPr lang="de-DE" dirty="0"/>
              <a:t> multivariate </a:t>
            </a:r>
            <a:r>
              <a:rPr lang="de-DE" dirty="0" err="1"/>
              <a:t>normality</a:t>
            </a:r>
            <a:endParaRPr lang="de-DE" dirty="0"/>
          </a:p>
          <a:p>
            <a:pPr lvl="1"/>
            <a:r>
              <a:rPr lang="de-DE" dirty="0"/>
              <a:t>WLSMV (ordinal)</a:t>
            </a:r>
          </a:p>
          <a:p>
            <a:pPr lvl="1"/>
            <a:r>
              <a:rPr lang="de-DE" dirty="0"/>
              <a:t>…</a:t>
            </a:r>
          </a:p>
          <a:p>
            <a:pPr lvl="1"/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5C9B705-4B1F-47EA-9031-B005C34B4564}"/>
              </a:ext>
            </a:extLst>
          </p:cNvPr>
          <p:cNvSpPr txBox="1"/>
          <p:nvPr/>
        </p:nvSpPr>
        <p:spPr>
          <a:xfrm>
            <a:off x="6273799" y="4281259"/>
            <a:ext cx="52578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fa(R, 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nfactors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= k, 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fm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= "ml", rotate = "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oblimin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", scores = "regression", 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n.obs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nrow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(items))</a:t>
            </a:r>
            <a:endParaRPr lang="de-DE" sz="11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2475EAC-D201-4403-9537-9E3352D74B2A}"/>
              </a:ext>
            </a:extLst>
          </p:cNvPr>
          <p:cNvSpPr txBox="1"/>
          <p:nvPr/>
        </p:nvSpPr>
        <p:spPr>
          <a:xfrm>
            <a:off x="3420526" y="234692"/>
            <a:ext cx="8501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4"/>
                </a:solidFill>
              </a:rPr>
              <a:t>Fox et al. 2025 </a:t>
            </a:r>
            <a:r>
              <a:rPr lang="de-DE" dirty="0" err="1">
                <a:solidFill>
                  <a:schemeClr val="accent4"/>
                </a:solidFill>
              </a:rPr>
              <a:t>Cognitive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arbitration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between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candidate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dimensions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of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psychopathology</a:t>
            </a:r>
            <a:r>
              <a:rPr lang="de-DE" dirty="0">
                <a:solidFill>
                  <a:schemeClr val="accent4"/>
                </a:solidFill>
              </a:rPr>
              <a:t>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A543A00-5DF6-4DD7-933A-61825CEB7941}"/>
              </a:ext>
            </a:extLst>
          </p:cNvPr>
          <p:cNvSpPr/>
          <p:nvPr/>
        </p:nvSpPr>
        <p:spPr>
          <a:xfrm>
            <a:off x="4428834" y="3008657"/>
            <a:ext cx="1930402" cy="304800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3116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1D582D-C672-4571-B061-2099AF8E4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Test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A44C7-7D5E-4B5D-85EE-486E63D1E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Examine</a:t>
            </a:r>
            <a:r>
              <a:rPr lang="de-DE" dirty="0"/>
              <a:t> </a:t>
            </a:r>
            <a:r>
              <a:rPr lang="de-DE" dirty="0" err="1"/>
              <a:t>reliability</a:t>
            </a:r>
            <a:r>
              <a:rPr lang="de-DE" dirty="0"/>
              <a:t> (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factor</a:t>
            </a:r>
            <a:r>
              <a:rPr lang="de-DE" dirty="0"/>
              <a:t> </a:t>
            </a:r>
            <a:r>
              <a:rPr lang="de-DE" dirty="0" err="1"/>
              <a:t>weights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)</a:t>
            </a:r>
          </a:p>
          <a:p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tucker</a:t>
            </a:r>
            <a:r>
              <a:rPr lang="de-DE" dirty="0"/>
              <a:t> </a:t>
            </a:r>
            <a:r>
              <a:rPr lang="de-DE" dirty="0" err="1"/>
              <a:t>congruence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ttraining</a:t>
            </a:r>
            <a:r>
              <a:rPr lang="de-DE" dirty="0"/>
              <a:t> and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[-1, 1]</a:t>
            </a:r>
          </a:p>
          <a:p>
            <a:pPr lvl="1"/>
            <a:r>
              <a:rPr lang="de-DE" dirty="0"/>
              <a:t>Values </a:t>
            </a:r>
            <a:r>
              <a:rPr lang="de-DE" dirty="0" err="1"/>
              <a:t>above</a:t>
            </a:r>
            <a:r>
              <a:rPr lang="de-DE" dirty="0"/>
              <a:t> .85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(</a:t>
            </a:r>
            <a:r>
              <a:rPr lang="de-DE" dirty="0" err="1"/>
              <a:t>factors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/>
              <a:t>)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253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1D582D-C672-4571-B061-2099AF8E4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EFA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A44C7-7D5E-4B5D-85EE-486E63D1E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hierarchy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Latent variable </a:t>
            </a:r>
            <a:r>
              <a:rPr lang="de-DE" dirty="0" err="1"/>
              <a:t>models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Bass-</a:t>
            </a:r>
            <a:r>
              <a:rPr lang="de-DE" dirty="0" err="1"/>
              <a:t>ackwards</a:t>
            </a:r>
            <a:endParaRPr lang="de-DE" dirty="0"/>
          </a:p>
          <a:p>
            <a:endParaRPr lang="de-DE" dirty="0"/>
          </a:p>
          <a:p>
            <a:r>
              <a:rPr lang="de-DE" dirty="0"/>
              <a:t>Optional: Per-person </a:t>
            </a:r>
            <a:r>
              <a:rPr lang="de-DE" dirty="0" err="1"/>
              <a:t>factor</a:t>
            </a:r>
            <a:r>
              <a:rPr lang="de-DE" dirty="0"/>
              <a:t> </a:t>
            </a:r>
            <a:r>
              <a:rPr lang="de-DE" dirty="0" err="1"/>
              <a:t>scores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43BF228-06FF-461E-A46A-D1249D676A5A}"/>
              </a:ext>
            </a:extLst>
          </p:cNvPr>
          <p:cNvSpPr txBox="1"/>
          <p:nvPr/>
        </p:nvSpPr>
        <p:spPr>
          <a:xfrm>
            <a:off x="4258733" y="4738253"/>
            <a:ext cx="7213598" cy="1615827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W &lt;- 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fa_fit$weights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 # factor score weights (regression method)</a:t>
            </a:r>
          </a:p>
          <a:p>
            <a:endParaRPr lang="en-US" sz="11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# IMPORTANT PRACTICAL NOTE:</a:t>
            </a:r>
          </a:p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# Because weights come from a correlation matrix (standardized variables),</a:t>
            </a:r>
          </a:p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# z-scoring items before applying weights is usually safest.</a:t>
            </a:r>
          </a:p>
          <a:p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items_z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&lt;- scale(items)</a:t>
            </a:r>
          </a:p>
          <a:p>
            <a:endParaRPr lang="en-US" sz="11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scores &lt;- 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as.matrix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items_z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 %*% </a:t>
            </a:r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as.matrix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(W)   # N x k factor scores</a:t>
            </a:r>
          </a:p>
          <a:p>
            <a:r>
              <a:rPr lang="en-US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colnames</a:t>
            </a:r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(scores) &lt;- paste0("F", 1:k)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1A84942-BB1F-4903-9ACC-E311EC3B4F00}"/>
              </a:ext>
            </a:extLst>
          </p:cNvPr>
          <p:cNvSpPr txBox="1"/>
          <p:nvPr/>
        </p:nvSpPr>
        <p:spPr>
          <a:xfrm>
            <a:off x="3970870" y="1459453"/>
            <a:ext cx="7213598" cy="92333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ea typeface="Cascadia Mono" panose="020B0609020000020004" pitchFamily="49" charset="0"/>
                <a:cs typeface="Cascadia Mono" panose="020B0609020000020004" pitchFamily="49" charset="0"/>
              </a:rPr>
              <a:t>Fox et al. do not recommend a hierarchical solution</a:t>
            </a:r>
          </a:p>
          <a:p>
            <a:r>
              <a:rPr lang="en-US" dirty="0">
                <a:ea typeface="Cascadia Mono" panose="020B0609020000020004" pitchFamily="49" charset="0"/>
                <a:cs typeface="Cascadia Mono" panose="020B0609020000020004" pitchFamily="49" charset="0"/>
              </a:rPr>
              <a:t>Conway et al suggest only CFA, they do not directly recommend an exploratory factor analysis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1BE650-82CB-41E1-8820-9670189638C5}"/>
              </a:ext>
            </a:extLst>
          </p:cNvPr>
          <p:cNvSpPr/>
          <p:nvPr/>
        </p:nvSpPr>
        <p:spPr>
          <a:xfrm>
            <a:off x="3869268" y="4029509"/>
            <a:ext cx="3911598" cy="339412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EB1DC31-9424-4149-9F30-8BE3D2FC6B99}"/>
              </a:ext>
            </a:extLst>
          </p:cNvPr>
          <p:cNvSpPr/>
          <p:nvPr/>
        </p:nvSpPr>
        <p:spPr>
          <a:xfrm>
            <a:off x="4394201" y="3070177"/>
            <a:ext cx="1701799" cy="339412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7EC121-9960-4F3F-B929-726505C63DAE}"/>
              </a:ext>
            </a:extLst>
          </p:cNvPr>
          <p:cNvSpPr txBox="1"/>
          <p:nvPr/>
        </p:nvSpPr>
        <p:spPr>
          <a:xfrm>
            <a:off x="3428993" y="494776"/>
            <a:ext cx="6272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Conway et al. 2019 </a:t>
            </a:r>
            <a:r>
              <a:rPr lang="de-DE" dirty="0" err="1">
                <a:solidFill>
                  <a:schemeClr val="accent5">
                    <a:lumMod val="75000"/>
                  </a:schemeClr>
                </a:solidFill>
              </a:rPr>
              <a:t>HiTOP</a:t>
            </a:r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5">
                    <a:lumMod val="75000"/>
                  </a:schemeClr>
                </a:solidFill>
              </a:rPr>
              <a:t>can</a:t>
            </a:r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5">
                    <a:lumMod val="75000"/>
                  </a:schemeClr>
                </a:solidFill>
              </a:rPr>
              <a:t>transform</a:t>
            </a:r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 mental </a:t>
            </a:r>
            <a:r>
              <a:rPr lang="de-DE" dirty="0" err="1">
                <a:solidFill>
                  <a:schemeClr val="accent5">
                    <a:lumMod val="75000"/>
                  </a:schemeClr>
                </a:solidFill>
              </a:rPr>
              <a:t>health</a:t>
            </a:r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5">
                    <a:lumMod val="75000"/>
                  </a:schemeClr>
                </a:solidFill>
              </a:rPr>
              <a:t>research</a:t>
            </a:r>
            <a:endParaRPr lang="de-DE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81EC5C5-67DE-4258-8412-E021BC0F4954}"/>
              </a:ext>
            </a:extLst>
          </p:cNvPr>
          <p:cNvSpPr txBox="1"/>
          <p:nvPr/>
        </p:nvSpPr>
        <p:spPr>
          <a:xfrm>
            <a:off x="3428993" y="797317"/>
            <a:ext cx="8501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4"/>
                </a:solidFill>
              </a:rPr>
              <a:t>Fox et al. 2025 </a:t>
            </a:r>
            <a:r>
              <a:rPr lang="de-DE" dirty="0" err="1">
                <a:solidFill>
                  <a:schemeClr val="accent4"/>
                </a:solidFill>
              </a:rPr>
              <a:t>Cognitive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arbitration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between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candidate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dimensions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of</a:t>
            </a:r>
            <a:r>
              <a:rPr lang="de-DE" dirty="0">
                <a:solidFill>
                  <a:schemeClr val="accent4"/>
                </a:solidFill>
              </a:rPr>
              <a:t> </a:t>
            </a:r>
            <a:r>
              <a:rPr lang="de-DE" dirty="0" err="1">
                <a:solidFill>
                  <a:schemeClr val="accent4"/>
                </a:solidFill>
              </a:rPr>
              <a:t>psychopathology</a:t>
            </a:r>
            <a:r>
              <a:rPr lang="de-DE" dirty="0">
                <a:solidFill>
                  <a:schemeClr val="accent4"/>
                </a:solidFill>
              </a:rPr>
              <a:t> 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EFACDFE-D62B-496C-A0B8-CFE42B66587F}"/>
              </a:ext>
            </a:extLst>
          </p:cNvPr>
          <p:cNvSpPr txBox="1"/>
          <p:nvPr/>
        </p:nvSpPr>
        <p:spPr>
          <a:xfrm>
            <a:off x="3428993" y="192235"/>
            <a:ext cx="6175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Conway et al. 2022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HiTOP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primer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for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mental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health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researchers</a:t>
            </a:r>
            <a:endParaRPr lang="de-DE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B13711-3109-4C96-8168-C40867433ACB}"/>
              </a:ext>
            </a:extLst>
          </p:cNvPr>
          <p:cNvSpPr/>
          <p:nvPr/>
        </p:nvSpPr>
        <p:spPr>
          <a:xfrm>
            <a:off x="4394201" y="2778650"/>
            <a:ext cx="2539999" cy="339412"/>
          </a:xfrm>
          <a:prstGeom prst="rect">
            <a:avLst/>
          </a:pr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7229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800AE2-2BB5-44FC-8CE4-E8B7B4B23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Understand</a:t>
            </a:r>
            <a:r>
              <a:rPr lang="de-DE" dirty="0"/>
              <a:t>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A0ABC4-2E6D-4E67-A8B2-2DB439D5D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Aspects of Indicators</a:t>
            </a:r>
          </a:p>
          <a:p>
            <a:pPr lvl="1"/>
            <a:r>
              <a:rPr lang="en-US" dirty="0"/>
              <a:t>Communality = variance explained by the common factors</a:t>
            </a:r>
          </a:p>
          <a:p>
            <a:pPr lvl="1"/>
            <a:r>
              <a:rPr lang="en-US" dirty="0"/>
              <a:t>Uniqueness = 1 − communality (in standardized terms)</a:t>
            </a:r>
          </a:p>
          <a:p>
            <a:pPr lvl="2"/>
            <a:r>
              <a:rPr lang="en-US" dirty="0"/>
              <a:t>If high: well-explained by factors</a:t>
            </a:r>
          </a:p>
          <a:p>
            <a:pPr lvl="2"/>
            <a:r>
              <a:rPr lang="en-US" dirty="0"/>
              <a:t>If low: poorly explained by factors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25157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DE0F8F-DF4A-4CE1-BD46-9BF848489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Heywood Cases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C9C6E1-53CE-49A8-B390-0CF067FCF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parameter</a:t>
            </a:r>
            <a:r>
              <a:rPr lang="de-DE" dirty="0"/>
              <a:t> </a:t>
            </a:r>
            <a:r>
              <a:rPr lang="de-DE" dirty="0" err="1"/>
              <a:t>estimate</a:t>
            </a:r>
            <a:r>
              <a:rPr lang="de-DE" dirty="0"/>
              <a:t> outside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permissible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, e.g. </a:t>
            </a:r>
            <a:r>
              <a:rPr lang="de-DE" dirty="0" err="1"/>
              <a:t>clearly</a:t>
            </a:r>
            <a:r>
              <a:rPr lang="de-DE" dirty="0"/>
              <a:t> negative </a:t>
            </a:r>
            <a:r>
              <a:rPr lang="de-DE" dirty="0" err="1"/>
              <a:t>standardized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 </a:t>
            </a:r>
            <a:r>
              <a:rPr lang="de-DE" dirty="0" err="1"/>
              <a:t>estimate</a:t>
            </a:r>
            <a:r>
              <a:rPr lang="de-DE" dirty="0"/>
              <a:t> (e.g. -0.3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serious</a:t>
            </a:r>
            <a:r>
              <a:rPr lang="de-DE" dirty="0"/>
              <a:t>)</a:t>
            </a:r>
          </a:p>
          <a:p>
            <a:r>
              <a:rPr lang="de-DE" dirty="0" err="1"/>
              <a:t>Causes</a:t>
            </a:r>
            <a:r>
              <a:rPr lang="de-DE" dirty="0"/>
              <a:t>: </a:t>
            </a:r>
          </a:p>
          <a:p>
            <a:pPr lvl="1"/>
            <a:r>
              <a:rPr lang="de-DE" dirty="0" err="1"/>
              <a:t>Overfitting</a:t>
            </a:r>
            <a:r>
              <a:rPr lang="de-DE" dirty="0"/>
              <a:t> (not </a:t>
            </a:r>
            <a:r>
              <a:rPr lang="de-DE" dirty="0" err="1"/>
              <a:t>enough</a:t>
            </a:r>
            <a:r>
              <a:rPr lang="de-DE" dirty="0"/>
              <a:t> </a:t>
            </a:r>
            <a:r>
              <a:rPr lang="de-DE" dirty="0" err="1"/>
              <a:t>indicators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parameters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Underspecified</a:t>
            </a:r>
            <a:r>
              <a:rPr lang="de-DE" dirty="0"/>
              <a:t> (</a:t>
            </a:r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few</a:t>
            </a:r>
            <a:r>
              <a:rPr lang="de-DE" dirty="0"/>
              <a:t> </a:t>
            </a:r>
            <a:r>
              <a:rPr lang="de-DE" dirty="0" err="1"/>
              <a:t>parameters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sample</a:t>
            </a:r>
          </a:p>
          <a:p>
            <a:pPr lvl="1"/>
            <a:r>
              <a:rPr lang="de-DE" dirty="0" err="1"/>
              <a:t>Multicollinearity</a:t>
            </a:r>
            <a:endParaRPr lang="de-DE" dirty="0"/>
          </a:p>
          <a:p>
            <a:r>
              <a:rPr lang="de-DE" dirty="0"/>
              <a:t>Solution: </a:t>
            </a:r>
          </a:p>
          <a:p>
            <a:pPr lvl="1"/>
            <a:r>
              <a:rPr lang="de-DE" dirty="0"/>
              <a:t>Try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disappears</a:t>
            </a:r>
            <a:r>
              <a:rPr lang="de-DE" dirty="0"/>
              <a:t> </a:t>
            </a:r>
            <a:r>
              <a:rPr lang="de-DE" dirty="0" err="1"/>
              <a:t>wiht</a:t>
            </a:r>
            <a:r>
              <a:rPr lang="de-DE" dirty="0"/>
              <a:t> 1 </a:t>
            </a:r>
            <a:r>
              <a:rPr lang="de-DE" dirty="0" err="1"/>
              <a:t>factor</a:t>
            </a:r>
            <a:r>
              <a:rPr lang="de-DE" dirty="0"/>
              <a:t> </a:t>
            </a:r>
            <a:r>
              <a:rPr lang="de-DE" dirty="0" err="1"/>
              <a:t>less</a:t>
            </a:r>
            <a:endParaRPr lang="de-DE" dirty="0"/>
          </a:p>
          <a:p>
            <a:pPr lvl="1"/>
            <a:r>
              <a:rPr lang="de-DE" dirty="0"/>
              <a:t>Check </a:t>
            </a:r>
            <a:r>
              <a:rPr lang="de-DE" dirty="0" err="1"/>
              <a:t>for</a:t>
            </a:r>
            <a:r>
              <a:rPr lang="de-DE" dirty="0"/>
              <a:t> super high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scales</a:t>
            </a:r>
            <a:r>
              <a:rPr lang="de-DE" dirty="0"/>
              <a:t> –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yes</a:t>
            </a:r>
            <a:r>
              <a:rPr lang="de-DE" dirty="0"/>
              <a:t>, </a:t>
            </a:r>
            <a:r>
              <a:rPr lang="de-DE" dirty="0" err="1"/>
              <a:t>drop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scale</a:t>
            </a:r>
            <a:endParaRPr lang="de-DE" dirty="0"/>
          </a:p>
          <a:p>
            <a:pPr lvl="1"/>
            <a:r>
              <a:rPr lang="de-DE" dirty="0" err="1"/>
              <a:t>Possibly</a:t>
            </a:r>
            <a:r>
              <a:rPr lang="de-DE" dirty="0"/>
              <a:t> </a:t>
            </a:r>
            <a:r>
              <a:rPr lang="de-DE" dirty="0" err="1"/>
              <a:t>try</a:t>
            </a:r>
            <a:r>
              <a:rPr lang="de-DE" dirty="0"/>
              <a:t> a </a:t>
            </a:r>
            <a:r>
              <a:rPr lang="de-DE" dirty="0" err="1"/>
              <a:t>more</a:t>
            </a:r>
            <a:r>
              <a:rPr lang="de-DE" dirty="0"/>
              <a:t> robust </a:t>
            </a:r>
            <a:r>
              <a:rPr lang="de-DE" dirty="0" err="1"/>
              <a:t>estimator</a:t>
            </a:r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47841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826333-E9F8-4D2C-B9FE-E480C3543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went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Backbone </a:t>
            </a:r>
            <a:r>
              <a:rPr lang="de-DE" dirty="0" err="1"/>
              <a:t>Factor</a:t>
            </a:r>
            <a:r>
              <a:rPr lang="de-DE" dirty="0"/>
              <a:t>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DD0D8C-0590-408D-8A9E-5E9A227EAD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IDAS</a:t>
            </a:r>
          </a:p>
          <a:p>
            <a:pPr lvl="1"/>
            <a:r>
              <a:rPr lang="de-DE" dirty="0" err="1"/>
              <a:t>Internalizing</a:t>
            </a:r>
            <a:endParaRPr lang="de-DE" dirty="0"/>
          </a:p>
          <a:p>
            <a:r>
              <a:rPr lang="de-DE" dirty="0"/>
              <a:t>SUQ </a:t>
            </a:r>
          </a:p>
          <a:p>
            <a:pPr lvl="1"/>
            <a:r>
              <a:rPr lang="de-DE" dirty="0" err="1"/>
              <a:t>HiTOP</a:t>
            </a:r>
            <a:r>
              <a:rPr lang="de-DE" dirty="0"/>
              <a:t> </a:t>
            </a:r>
            <a:r>
              <a:rPr lang="de-DE" dirty="0" err="1"/>
              <a:t>Assumption</a:t>
            </a:r>
            <a:r>
              <a:rPr lang="de-DE" dirty="0"/>
              <a:t>: </a:t>
            </a:r>
            <a:r>
              <a:rPr lang="de-DE" dirty="0" err="1"/>
              <a:t>Antisocial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-&gt; </a:t>
            </a:r>
            <a:r>
              <a:rPr lang="de-DE" dirty="0" err="1"/>
              <a:t>Disinhibited</a:t>
            </a:r>
            <a:r>
              <a:rPr lang="de-DE" dirty="0"/>
              <a:t> </a:t>
            </a:r>
            <a:r>
              <a:rPr lang="de-DE" dirty="0" err="1"/>
              <a:t>Externalizing</a:t>
            </a:r>
            <a:r>
              <a:rPr lang="de-DE" dirty="0"/>
              <a:t> -&gt; </a:t>
            </a:r>
            <a:r>
              <a:rPr lang="de-DE" dirty="0" err="1"/>
              <a:t>Externalizing</a:t>
            </a:r>
            <a:endParaRPr lang="de-DE" dirty="0"/>
          </a:p>
          <a:p>
            <a:r>
              <a:rPr lang="de-DE" dirty="0"/>
              <a:t>CAPE positive </a:t>
            </a:r>
            <a:r>
              <a:rPr lang="de-DE" dirty="0" err="1"/>
              <a:t>symptoms</a:t>
            </a:r>
            <a:r>
              <a:rPr lang="de-DE" dirty="0"/>
              <a:t> </a:t>
            </a:r>
          </a:p>
          <a:p>
            <a:pPr lvl="1"/>
            <a:r>
              <a:rPr lang="de-DE" dirty="0" err="1"/>
              <a:t>HiTOP</a:t>
            </a:r>
            <a:r>
              <a:rPr lang="de-DE" dirty="0"/>
              <a:t> </a:t>
            </a:r>
            <a:r>
              <a:rPr lang="de-DE" dirty="0" err="1"/>
              <a:t>Assumption</a:t>
            </a:r>
            <a:r>
              <a:rPr lang="de-DE" dirty="0"/>
              <a:t>: </a:t>
            </a:r>
            <a:r>
              <a:rPr lang="de-DE" dirty="0" err="1"/>
              <a:t>Thought</a:t>
            </a:r>
            <a:r>
              <a:rPr lang="de-DE" dirty="0"/>
              <a:t> </a:t>
            </a:r>
            <a:r>
              <a:rPr lang="de-DE" dirty="0" err="1"/>
              <a:t>Disorder</a:t>
            </a:r>
            <a:r>
              <a:rPr lang="de-DE" dirty="0"/>
              <a:t> -&gt; </a:t>
            </a:r>
            <a:r>
              <a:rPr lang="de-DE" dirty="0" err="1"/>
              <a:t>Psychosis</a:t>
            </a:r>
            <a:r>
              <a:rPr lang="de-DE" dirty="0"/>
              <a:t>)</a:t>
            </a:r>
          </a:p>
          <a:p>
            <a:r>
              <a:rPr lang="de-DE" dirty="0"/>
              <a:t>ASRS </a:t>
            </a:r>
          </a:p>
          <a:p>
            <a:pPr lvl="1"/>
            <a:r>
              <a:rPr lang="de-DE" dirty="0" err="1"/>
              <a:t>HiTOP</a:t>
            </a:r>
            <a:r>
              <a:rPr lang="de-DE" dirty="0"/>
              <a:t> </a:t>
            </a:r>
            <a:r>
              <a:rPr lang="de-DE" dirty="0" err="1"/>
              <a:t>Assumption</a:t>
            </a:r>
            <a:r>
              <a:rPr lang="de-DE" dirty="0"/>
              <a:t>: ADHD -&gt; </a:t>
            </a:r>
            <a:r>
              <a:rPr lang="de-DE" dirty="0" err="1"/>
              <a:t>Antisocial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-&gt; </a:t>
            </a:r>
            <a:r>
              <a:rPr lang="de-DE" dirty="0" err="1"/>
              <a:t>Disinhibited</a:t>
            </a:r>
            <a:r>
              <a:rPr lang="de-DE" dirty="0"/>
              <a:t> </a:t>
            </a:r>
            <a:r>
              <a:rPr lang="de-DE" dirty="0" err="1"/>
              <a:t>Externalizing</a:t>
            </a:r>
            <a:r>
              <a:rPr lang="de-DE" dirty="0"/>
              <a:t> -&gt; </a:t>
            </a:r>
            <a:r>
              <a:rPr lang="de-DE" dirty="0" err="1"/>
              <a:t>Externalizing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1058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427D43-D52B-40D8-B5BC-F977810FD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0238DE-49C2-428B-9B34-C5D9E99E4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7693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74AC39-9675-41C7-8D92-875E7877E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HiTOP</a:t>
            </a:r>
            <a:r>
              <a:rPr lang="de-DE" dirty="0"/>
              <a:t> CFA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37DBFE-939B-4F89-A300-0A21D1B8A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indicators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HiTOP</a:t>
            </a:r>
            <a:endParaRPr lang="de-DE" dirty="0"/>
          </a:p>
          <a:p>
            <a:endParaRPr lang="de-DE" dirty="0"/>
          </a:p>
          <a:p>
            <a:r>
              <a:rPr lang="de-DE" dirty="0"/>
              <a:t>Latent variable </a:t>
            </a:r>
            <a:r>
              <a:rPr lang="de-DE" dirty="0" err="1"/>
              <a:t>modeling</a:t>
            </a:r>
            <a:r>
              <a:rPr lang="de-DE" dirty="0"/>
              <a:t> </a:t>
            </a:r>
          </a:p>
          <a:p>
            <a:pPr lvl="1"/>
            <a:r>
              <a:rPr lang="de-DE" dirty="0" err="1"/>
              <a:t>Factor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SEM</a:t>
            </a:r>
          </a:p>
          <a:p>
            <a:pPr lvl="1"/>
            <a:endParaRPr lang="de-DE" dirty="0"/>
          </a:p>
          <a:p>
            <a:r>
              <a:rPr lang="de-DE" dirty="0"/>
              <a:t>Fit CFA and </a:t>
            </a:r>
            <a:r>
              <a:rPr lang="de-DE" dirty="0" err="1"/>
              <a:t>evaluate</a:t>
            </a:r>
            <a:r>
              <a:rPr lang="de-DE" dirty="0"/>
              <a:t> fit</a:t>
            </a:r>
          </a:p>
          <a:p>
            <a:pPr lvl="1"/>
            <a:r>
              <a:rPr lang="de-DE" dirty="0"/>
              <a:t>Chi²</a:t>
            </a:r>
          </a:p>
          <a:p>
            <a:pPr lvl="1"/>
            <a:r>
              <a:rPr lang="de-DE" dirty="0"/>
              <a:t>CFI </a:t>
            </a:r>
          </a:p>
          <a:p>
            <a:pPr lvl="1"/>
            <a:r>
              <a:rPr lang="de-DE" dirty="0"/>
              <a:t>RMSEA </a:t>
            </a:r>
          </a:p>
          <a:p>
            <a:pPr lvl="1"/>
            <a:r>
              <a:rPr lang="de-DE" dirty="0"/>
              <a:t>SRMR</a:t>
            </a:r>
          </a:p>
          <a:p>
            <a:pPr lvl="1"/>
            <a:endParaRPr lang="de-DE" dirty="0"/>
          </a:p>
          <a:p>
            <a:r>
              <a:rPr lang="de-DE" dirty="0" err="1"/>
              <a:t>Ensure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identified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32643EA-BE68-490F-8AB8-761FC9E815F8}"/>
              </a:ext>
            </a:extLst>
          </p:cNvPr>
          <p:cNvSpPr txBox="1"/>
          <p:nvPr/>
        </p:nvSpPr>
        <p:spPr>
          <a:xfrm>
            <a:off x="6884483" y="1123837"/>
            <a:ext cx="4968852" cy="127727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# Split dataset in training and test set:</a:t>
            </a:r>
          </a:p>
          <a:p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library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rsample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e-DE" sz="11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set.seed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(20251216)</a:t>
            </a:r>
          </a:p>
          <a:p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sp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&lt;-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initial_split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df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prop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= 0.75,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strata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project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df_training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&lt;-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training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sp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df_test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  &lt;- 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testing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100" dirty="0" err="1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sp</a:t>
            </a:r>
            <a:r>
              <a:rPr lang="de-DE" sz="1100" dirty="0"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0481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74AC39-9675-41C7-8D92-875E7877E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HiTOP</a:t>
            </a:r>
            <a:r>
              <a:rPr lang="de-DE" dirty="0"/>
              <a:t> CFA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37DBFE-939B-4F89-A300-0A21D1B8A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represent</a:t>
            </a:r>
            <a:r>
              <a:rPr lang="de-DE" dirty="0"/>
              <a:t> top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hierarchy</a:t>
            </a:r>
            <a:r>
              <a:rPr lang="de-DE" dirty="0"/>
              <a:t>?</a:t>
            </a:r>
          </a:p>
          <a:p>
            <a:pPr lvl="1"/>
            <a:r>
              <a:rPr lang="de-DE" dirty="0" err="1"/>
              <a:t>Bifactor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Higher-order </a:t>
            </a:r>
            <a:r>
              <a:rPr lang="de-DE" dirty="0" err="1"/>
              <a:t>model</a:t>
            </a:r>
            <a:endParaRPr lang="de-DE" dirty="0"/>
          </a:p>
          <a:p>
            <a:pPr lvl="1"/>
            <a:endParaRPr lang="de-DE" dirty="0"/>
          </a:p>
          <a:p>
            <a:r>
              <a:rPr lang="de-DE" dirty="0"/>
              <a:t>Check </a:t>
            </a:r>
            <a:r>
              <a:rPr lang="de-DE" dirty="0" err="1"/>
              <a:t>reliability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set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6819360"/>
      </p:ext>
    </p:extLst>
  </p:cSld>
  <p:clrMapOvr>
    <a:masterClrMapping/>
  </p:clrMapOvr>
</p:sld>
</file>

<file path=ppt/theme/theme1.xml><?xml version="1.0" encoding="utf-8"?>
<a:theme xmlns:a="http://schemas.openxmlformats.org/drawingml/2006/main" name="Rahmen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{BAD50D32-A5F7-48FF-B78C-789AB3804CB1}TF5b254a55-10e1-4643-bbf8-937ce7de93d8979c30ab-c74550c300c2</Template>
  <TotalTime>0</TotalTime>
  <Words>937</Words>
  <Application>Microsoft Office PowerPoint</Application>
  <PresentationFormat>Breitbild</PresentationFormat>
  <Paragraphs>144</Paragraphs>
  <Slides>17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Calibri</vt:lpstr>
      <vt:lpstr>Cascadia Mono</vt:lpstr>
      <vt:lpstr>Corbel</vt:lpstr>
      <vt:lpstr>Wingdings 2</vt:lpstr>
      <vt:lpstr>Rahmen</vt:lpstr>
      <vt:lpstr>Factor Analysis</vt:lpstr>
      <vt:lpstr>Factor analysis: main idea</vt:lpstr>
      <vt:lpstr>Exploratory Factor analysis</vt:lpstr>
      <vt:lpstr>How many participants are needed? </vt:lpstr>
      <vt:lpstr>Decisions to be made:</vt:lpstr>
      <vt:lpstr>Level of analysis</vt:lpstr>
      <vt:lpstr>Appropriate Correlation Matrix</vt:lpstr>
      <vt:lpstr>Number of Factors to Extract</vt:lpstr>
      <vt:lpstr>Which Estimator</vt:lpstr>
      <vt:lpstr>Stability Test</vt:lpstr>
      <vt:lpstr>EFA</vt:lpstr>
      <vt:lpstr>Understand Output</vt:lpstr>
      <vt:lpstr>Heywood Cases</vt:lpstr>
      <vt:lpstr>What went into Backbone Factor Analysis</vt:lpstr>
      <vt:lpstr>What is in the data?</vt:lpstr>
      <vt:lpstr>HiTOP CFA</vt:lpstr>
      <vt:lpstr>HiTOP CFA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 Analysis</dc:title>
  <dc:creator>Wilken, Saskia Angelika</dc:creator>
  <cp:lastModifiedBy>Wilken, Saskia Angelika</cp:lastModifiedBy>
  <cp:revision>37</cp:revision>
  <dcterms:created xsi:type="dcterms:W3CDTF">2025-12-16T10:48:51Z</dcterms:created>
  <dcterms:modified xsi:type="dcterms:W3CDTF">2026-02-13T09:39:32Z</dcterms:modified>
</cp:coreProperties>
</file>